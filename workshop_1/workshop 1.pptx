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Average"/>
      <p:regular r:id="rId30"/>
    </p:embeddedFont>
    <p:embeddedFont>
      <p:font typeface="Oswald"/>
      <p:regular r:id="rId31"/>
      <p:bold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006B45E-9721-4F72-8F87-6F9F042BE4BD}">
  <a:tblStyle styleId="{3006B45E-9721-4F72-8F87-6F9F042BE4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Oswald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df5d018c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df5d018c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df5d018c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df5d018c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df5d018c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df5d018c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df5d018c1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df5d018c1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df5d018c1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df5d018c1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df5d018c1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df5d018c1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df5d018c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df5d018c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e935ee0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e935ee0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e05fe5f3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e05fe5f3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e05fe5f3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e05fe5f3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e05fe5f3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e05fe5f3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e98395b3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e98395b3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e98395b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e98395b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e05fe5f3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e05fe5f3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e98395b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e98395b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e05fe5f3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e05fe5f3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e98395b3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e98395b3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e05fe5f3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e05fe5f3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4e05fe5f39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4e05fe5f39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e05fe5f3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e05fe5f3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e05fe5f3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e05fe5f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4e05fe5f39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4e05fe5f39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4e98395b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4e98395b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bader.org/blog/python-dunder-method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and Elementary Data structures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3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882900"/>
            <a:ext cx="8520600" cy="3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Variables 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Store data (int, float, str, bool, Nonetype)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Collections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Collection of data (list, set, dict, tuples)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Conditional statements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if, else, elif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Functions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Group sections of code together 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d</a:t>
            </a:r>
            <a:r>
              <a:rPr lang="en">
                <a:solidFill>
                  <a:srgbClr val="FFFFFF"/>
                </a:solidFill>
              </a:rPr>
              <a:t>ef function_name():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Loops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Used for repetitions (for, while)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Import statements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Import code from external libraries or local files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645900" y="31490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code !</a:t>
            </a:r>
            <a:endParaRPr/>
          </a:p>
        </p:txBody>
      </p:sp>
      <p:sp>
        <p:nvSpPr>
          <p:cNvPr id="72" name="Google Shape;72;p15"/>
          <p:cNvSpPr txBox="1"/>
          <p:nvPr>
            <p:ph idx="4294967295" type="body"/>
          </p:nvPr>
        </p:nvSpPr>
        <p:spPr>
          <a:xfrm>
            <a:off x="311700" y="1175900"/>
            <a:ext cx="8520600" cy="3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FFFFFF"/>
                </a:solidFill>
              </a:rPr>
              <a:t>To recap, </a:t>
            </a:r>
            <a:r>
              <a:rPr lang="en">
                <a:solidFill>
                  <a:srgbClr val="FFFFFF"/>
                </a:solidFill>
              </a:rPr>
              <a:t>let's</a:t>
            </a:r>
            <a:r>
              <a:rPr lang="en">
                <a:solidFill>
                  <a:srgbClr val="FFFFFF"/>
                </a:solidFill>
              </a:rPr>
              <a:t> build a program that does the following:</a:t>
            </a:r>
            <a:endParaRPr>
              <a:solidFill>
                <a:srgbClr val="FFFFF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Takes an array of names as input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Counts down from 10 to 0 waiting a second in between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Randomly selects a name from the input array and displays it on the screen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Must make use of the following:</a:t>
            </a:r>
            <a:endParaRPr sz="1800">
              <a:solidFill>
                <a:srgbClr val="FFFFF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" sz="1800">
                <a:solidFill>
                  <a:srgbClr val="FFFFFF"/>
                </a:solidFill>
              </a:rPr>
              <a:t>Functions</a:t>
            </a:r>
            <a:endParaRPr sz="1800">
              <a:solidFill>
                <a:srgbClr val="FFFFF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" sz="1800">
                <a:solidFill>
                  <a:srgbClr val="FFFFFF"/>
                </a:solidFill>
              </a:rPr>
              <a:t>Variables</a:t>
            </a:r>
            <a:endParaRPr sz="1800">
              <a:solidFill>
                <a:srgbClr val="FFFFF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" sz="1800">
                <a:solidFill>
                  <a:srgbClr val="FFFFFF"/>
                </a:solidFill>
              </a:rPr>
              <a:t>Collections</a:t>
            </a:r>
            <a:endParaRPr sz="1800">
              <a:solidFill>
                <a:srgbClr val="FFFFF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" sz="1800">
                <a:solidFill>
                  <a:srgbClr val="FFFFFF"/>
                </a:solidFill>
              </a:rPr>
              <a:t>Loops</a:t>
            </a:r>
            <a:endParaRPr sz="1800">
              <a:solidFill>
                <a:srgbClr val="FFFFF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" sz="1800">
                <a:solidFill>
                  <a:srgbClr val="FFFFFF"/>
                </a:solidFill>
              </a:rPr>
              <a:t>Import statements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Oriented Programming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4403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25038"/>
            <a:ext cx="8520600" cy="11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Object Oriented Programming (OOP) is a software design pattern that allows you to think about problems in terms of objects and their interactions.</a:t>
            </a:r>
            <a:br>
              <a:rPr lang="en">
                <a:solidFill>
                  <a:srgbClr val="FFFFFF"/>
                </a:solidFill>
              </a:rPr>
            </a:b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Object oriented programming is a style of programming that groups related pieces of data together into objects. Furthermore, it allows objects to define their own methods.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2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93679"/>
            <a:ext cx="8520600" cy="14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It allows us to reason about real world objects using code.</a:t>
            </a:r>
            <a:br>
              <a:rPr lang="en">
                <a:solidFill>
                  <a:srgbClr val="FFFFFF"/>
                </a:solidFill>
              </a:rPr>
            </a:b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It provides a clear modular structure for programs which reduces complexity and improves maintainability. 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0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33637" l="25059" r="34871" t="5148"/>
          <a:stretch/>
        </p:blipFill>
        <p:spPr>
          <a:xfrm>
            <a:off x="6369925" y="1740850"/>
            <a:ext cx="2016674" cy="23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b="29383" l="32010" r="53598" t="42428"/>
          <a:stretch/>
        </p:blipFill>
        <p:spPr>
          <a:xfrm>
            <a:off x="653498" y="1685650"/>
            <a:ext cx="2120573" cy="233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3150" y="1519250"/>
            <a:ext cx="1537700" cy="32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879525"/>
            <a:ext cx="85206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Object oriented programming is used everywhere. Some few examples: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803100" y="4511913"/>
            <a:ext cx="1537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Bank accounts</a:t>
            </a:r>
            <a:endParaRPr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944888" y="4163713"/>
            <a:ext cx="1537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Airbnb Flats</a:t>
            </a:r>
            <a:endParaRPr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6609350" y="4141125"/>
            <a:ext cx="1537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Facebook P</a:t>
            </a: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osts</a:t>
            </a:r>
            <a:endParaRPr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00" y="1649909"/>
            <a:ext cx="2182625" cy="21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0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cat object</a:t>
            </a:r>
            <a:endParaRPr/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4970850" y="1781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3785950"/>
              </a:tblGrid>
              <a:tr h="19199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Cat:</a:t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" sz="12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__init__(self, color, name):</a:t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2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.color = color</a:t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2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.name = name</a:t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" sz="12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meow(self):</a:t>
                      </a:r>
                      <a:endParaRPr sz="12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print(</a:t>
                      </a:r>
                      <a:r>
                        <a:rPr lang="en" sz="1200">
                          <a:solidFill>
                            <a:srgbClr val="CE917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"meowwww"</a:t>
                      </a:r>
                      <a:r>
                        <a:rPr lang="en" sz="12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Google Shape;109;p20"/>
          <p:cNvGraphicFramePr/>
          <p:nvPr/>
        </p:nvGraphicFramePr>
        <p:xfrm>
          <a:off x="2934313" y="162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1517125"/>
              </a:tblGrid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olor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meow()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18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account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675" y="1051962"/>
            <a:ext cx="1537700" cy="32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550625" y="4044625"/>
            <a:ext cx="1537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Bank accounts</a:t>
            </a:r>
            <a:endParaRPr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117" name="Google Shape;117;p21"/>
          <p:cNvGraphicFramePr/>
          <p:nvPr/>
        </p:nvGraphicFramePr>
        <p:xfrm>
          <a:off x="4309750" y="1109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4294975"/>
              </a:tblGrid>
              <a:tr h="19199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BankAccount: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__init__(self, name, type, balance = </a:t>
                      </a:r>
                      <a:r>
                        <a:rPr lang="en" sz="1100">
                          <a:solidFill>
                            <a:srgbClr val="B5CEA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.balance = balance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.type = type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.name = name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deposit(self, amount):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.balance += amount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withdraw(self, amount):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amount &lt;=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.balance: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.balance -= amount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else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</a:t>
                      </a:r>
                      <a:endParaRPr sz="1100">
                        <a:solidFill>
                          <a:srgbClr val="D4D4D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2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       print(</a:t>
                      </a:r>
                      <a:r>
                        <a:rPr lang="en" sz="1100">
                          <a:solidFill>
                            <a:srgbClr val="CE917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"Insufficient funds"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100">
                        <a:solidFill>
                          <a:srgbClr val="569CD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Google Shape;118;p21"/>
          <p:cNvGraphicFramePr/>
          <p:nvPr/>
        </p:nvGraphicFramePr>
        <p:xfrm>
          <a:off x="2402413" y="120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1517125"/>
              </a:tblGrid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balance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deposit()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withdraw()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methods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322050"/>
            <a:ext cx="85206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__init__: Constructor function, used when creating object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__repr__: String representation for developers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__str__: String representation for end users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__len__: Returns “length” of your object, called with len()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__add__: Describes how 2 objects should be added together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__eq__: Describes how 2 objects should be equivalent to each other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__lt__: Describes how one object can be less than another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b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 more at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https://dbader.org/blog/python-dunder-methods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214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methods, variables, and class methods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93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Shared among all instances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1" name="Google Shape;131;p23"/>
          <p:cNvGraphicFramePr/>
          <p:nvPr/>
        </p:nvGraphicFramePr>
        <p:xfrm>
          <a:off x="870400" y="1418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7239000"/>
              </a:tblGrid>
              <a:tr h="18397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11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ids = </a:t>
                      </a:r>
                      <a:r>
                        <a:rPr lang="en" sz="1100">
                          <a:solidFill>
                            <a:srgbClr val="B5C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</a:t>
                      </a:r>
                      <a:r>
                        <a:rPr lang="en" sz="1100">
                          <a:solidFill>
                            <a:srgbClr val="6A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this is a static variable</a:t>
                      </a:r>
                      <a:endParaRPr sz="1100">
                        <a:solidFill>
                          <a:srgbClr val="6AA84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11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11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11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11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salary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.salary = salary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11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</a:t>
                      </a:r>
                      <a:r>
                        <a:rPr lang="en" sz="11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classmethod</a:t>
                      </a:r>
                      <a:endParaRPr sz="1100">
                        <a:solidFill>
                          <a:srgbClr val="4EC9B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11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increment_ids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11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cls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cls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.ids += </a:t>
                      </a:r>
                      <a:r>
                        <a:rPr lang="en" sz="1100">
                          <a:solidFill>
                            <a:srgbClr val="B5C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100">
                        <a:solidFill>
                          <a:srgbClr val="B5CEA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11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</a:t>
                      </a:r>
                      <a:r>
                        <a:rPr lang="en" sz="11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staticmethod</a:t>
                      </a:r>
                      <a:endParaRPr sz="1100">
                        <a:solidFill>
                          <a:srgbClr val="4EC9B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11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11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increase_salary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11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1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employee.salary += </a:t>
                      </a:r>
                      <a:r>
                        <a:rPr lang="en" sz="1100">
                          <a:solidFill>
                            <a:srgbClr val="B5C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400</a:t>
                      </a:r>
                      <a:endParaRPr sz="1100">
                        <a:solidFill>
                          <a:srgbClr val="DCDCAA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7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</a:t>
            </a:r>
            <a:endParaRPr/>
          </a:p>
        </p:txBody>
      </p:sp>
      <p:graphicFrame>
        <p:nvGraphicFramePr>
          <p:cNvPr id="137" name="Google Shape;137;p24"/>
          <p:cNvGraphicFramePr/>
          <p:nvPr/>
        </p:nvGraphicFramePr>
        <p:xfrm>
          <a:off x="1611113" y="39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1517125"/>
              </a:tblGrid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EMPLOYEE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Salary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24"/>
          <p:cNvGraphicFramePr/>
          <p:nvPr/>
        </p:nvGraphicFramePr>
        <p:xfrm>
          <a:off x="2844463" y="254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1517125"/>
              </a:tblGrid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Manager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department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lt1"/>
                          </a:solidFill>
                        </a:rPr>
                        <a:t>Methods</a:t>
                      </a:r>
                      <a:endParaRPr b="1"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file_report()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Google Shape;139;p24"/>
          <p:cNvGraphicFramePr/>
          <p:nvPr/>
        </p:nvGraphicFramePr>
        <p:xfrm>
          <a:off x="377763" y="254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1517125"/>
              </a:tblGrid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Developer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lt1"/>
                          </a:solidFill>
                        </a:rPr>
                        <a:t>Attributes</a:t>
                      </a:r>
                      <a:endParaRPr b="1"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prog_language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lt1"/>
                          </a:solidFill>
                        </a:rPr>
                        <a:t>Methods</a:t>
                      </a:r>
                      <a:endParaRPr b="1"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36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write_code()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0" name="Google Shape;140;p24"/>
          <p:cNvCxnSpPr/>
          <p:nvPr/>
        </p:nvCxnSpPr>
        <p:spPr>
          <a:xfrm flipH="1">
            <a:off x="1111700" y="1706325"/>
            <a:ext cx="386100" cy="781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4"/>
          <p:cNvCxnSpPr/>
          <p:nvPr/>
        </p:nvCxnSpPr>
        <p:spPr>
          <a:xfrm>
            <a:off x="3241575" y="1632650"/>
            <a:ext cx="385800" cy="786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4"/>
          <p:cNvSpPr txBox="1"/>
          <p:nvPr/>
        </p:nvSpPr>
        <p:spPr>
          <a:xfrm>
            <a:off x="3542050" y="1269825"/>
            <a:ext cx="15921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Manager inherits name and salary from Employee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188400" y="833325"/>
            <a:ext cx="11886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Developer</a:t>
            </a:r>
            <a:r>
              <a:rPr lang="en">
                <a:solidFill>
                  <a:srgbClr val="FFFFFF"/>
                </a:solidFill>
              </a:rPr>
              <a:t> inherits name and salary from Employee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44" name="Google Shape;144;p24"/>
          <p:cNvGraphicFramePr/>
          <p:nvPr/>
        </p:nvGraphicFramePr>
        <p:xfrm>
          <a:off x="5134150" y="73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{3006B45E-9721-4F72-8F87-6F9F042BE4BD}</a:tableStyleId>
              </a:tblPr>
              <a:tblGrid>
                <a:gridCol w="3831275"/>
              </a:tblGrid>
              <a:tr h="39821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salary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.name = name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.salary = salary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Developer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salary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prog_language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(name, salary)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.prog_language = prog_language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write_code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CE917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"I'm writing some code..."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Manager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salary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department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(name, salary)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.department = department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lang="en" sz="90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file_report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9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lang="en" sz="90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en" sz="900">
                          <a:solidFill>
                            <a:srgbClr val="CE917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"I'm filing some reports"</a:t>
                      </a:r>
                      <a:r>
                        <a:rPr lang="en" sz="9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900">
                        <a:solidFill>
                          <a:srgbClr val="569CD6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Elementary Data Structures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310250" y="1148650"/>
            <a:ext cx="8520600" cy="341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50" y="1933225"/>
            <a:ext cx="3971399" cy="18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0" y="1933225"/>
            <a:ext cx="3971397" cy="18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 Continued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53" y="1933225"/>
            <a:ext cx="3971397" cy="18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0" y="1933225"/>
            <a:ext cx="3971399" cy="185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310250" y="1161050"/>
            <a:ext cx="8520600" cy="341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25" y="1935063"/>
            <a:ext cx="3971400" cy="185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600" y="1935075"/>
            <a:ext cx="3971400" cy="18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 Continued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9"/>
          <p:cNvSpPr/>
          <p:nvPr/>
        </p:nvSpPr>
        <p:spPr>
          <a:xfrm>
            <a:off x="335050" y="1161050"/>
            <a:ext cx="8520600" cy="341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813" y="1935075"/>
            <a:ext cx="3971377" cy="18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25" y="1935075"/>
            <a:ext cx="3971400" cy="18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64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 a computer’s memory, it’s common to store data of the same type side-by-side.</a:t>
            </a:r>
            <a:endParaRPr/>
          </a:p>
        </p:txBody>
      </p:sp>
      <p:sp>
        <p:nvSpPr>
          <p:cNvPr id="192" name="Google Shape;192;p30"/>
          <p:cNvSpPr/>
          <p:nvPr/>
        </p:nvSpPr>
        <p:spPr>
          <a:xfrm>
            <a:off x="3117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193" name="Google Shape;193;p30"/>
          <p:cNvSpPr/>
          <p:nvPr/>
        </p:nvSpPr>
        <p:spPr>
          <a:xfrm>
            <a:off x="8436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	</a:t>
            </a:r>
            <a:endParaRPr sz="3600"/>
          </a:p>
        </p:txBody>
      </p:sp>
      <p:sp>
        <p:nvSpPr>
          <p:cNvPr id="194" name="Google Shape;194;p30"/>
          <p:cNvSpPr/>
          <p:nvPr/>
        </p:nvSpPr>
        <p:spPr>
          <a:xfrm>
            <a:off x="13755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2</a:t>
            </a:r>
            <a:endParaRPr sz="3600"/>
          </a:p>
        </p:txBody>
      </p:sp>
      <p:sp>
        <p:nvSpPr>
          <p:cNvPr id="195" name="Google Shape;195;p30"/>
          <p:cNvSpPr/>
          <p:nvPr/>
        </p:nvSpPr>
        <p:spPr>
          <a:xfrm>
            <a:off x="19074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3</a:t>
            </a:r>
            <a:endParaRPr sz="3600"/>
          </a:p>
        </p:txBody>
      </p:sp>
      <p:sp>
        <p:nvSpPr>
          <p:cNvPr id="196" name="Google Shape;196;p30"/>
          <p:cNvSpPr/>
          <p:nvPr/>
        </p:nvSpPr>
        <p:spPr>
          <a:xfrm>
            <a:off x="24393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4</a:t>
            </a:r>
            <a:endParaRPr sz="3600"/>
          </a:p>
        </p:txBody>
      </p:sp>
      <p:sp>
        <p:nvSpPr>
          <p:cNvPr id="197" name="Google Shape;197;p30"/>
          <p:cNvSpPr/>
          <p:nvPr/>
        </p:nvSpPr>
        <p:spPr>
          <a:xfrm>
            <a:off x="29712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5</a:t>
            </a:r>
            <a:endParaRPr sz="3600"/>
          </a:p>
        </p:txBody>
      </p:sp>
      <p:sp>
        <p:nvSpPr>
          <p:cNvPr id="198" name="Google Shape;198;p30"/>
          <p:cNvSpPr/>
          <p:nvPr/>
        </p:nvSpPr>
        <p:spPr>
          <a:xfrm>
            <a:off x="35031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6</a:t>
            </a:r>
            <a:endParaRPr sz="3600"/>
          </a:p>
        </p:txBody>
      </p:sp>
      <p:sp>
        <p:nvSpPr>
          <p:cNvPr id="199" name="Google Shape;199;p30"/>
          <p:cNvSpPr/>
          <p:nvPr/>
        </p:nvSpPr>
        <p:spPr>
          <a:xfrm>
            <a:off x="4035000" y="1806225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7</a:t>
            </a:r>
            <a:endParaRPr sz="3600"/>
          </a:p>
        </p:txBody>
      </p:sp>
      <p:sp>
        <p:nvSpPr>
          <p:cNvPr id="200" name="Google Shape;200;p30"/>
          <p:cNvSpPr/>
          <p:nvPr/>
        </p:nvSpPr>
        <p:spPr>
          <a:xfrm>
            <a:off x="3117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</a:t>
            </a:r>
            <a:endParaRPr sz="3600"/>
          </a:p>
        </p:txBody>
      </p:sp>
      <p:sp>
        <p:nvSpPr>
          <p:cNvPr id="201" name="Google Shape;201;p30"/>
          <p:cNvSpPr/>
          <p:nvPr/>
        </p:nvSpPr>
        <p:spPr>
          <a:xfrm>
            <a:off x="8436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</a:t>
            </a:r>
            <a:endParaRPr sz="3600"/>
          </a:p>
        </p:txBody>
      </p:sp>
      <p:sp>
        <p:nvSpPr>
          <p:cNvPr id="202" name="Google Shape;202;p30"/>
          <p:cNvSpPr/>
          <p:nvPr/>
        </p:nvSpPr>
        <p:spPr>
          <a:xfrm>
            <a:off x="13755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</a:t>
            </a:r>
            <a:endParaRPr sz="3600"/>
          </a:p>
        </p:txBody>
      </p:sp>
      <p:sp>
        <p:nvSpPr>
          <p:cNvPr id="203" name="Google Shape;203;p30"/>
          <p:cNvSpPr/>
          <p:nvPr/>
        </p:nvSpPr>
        <p:spPr>
          <a:xfrm>
            <a:off x="19074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</a:t>
            </a:r>
            <a:endParaRPr sz="3600"/>
          </a:p>
        </p:txBody>
      </p:sp>
      <p:sp>
        <p:nvSpPr>
          <p:cNvPr id="204" name="Google Shape;204;p30"/>
          <p:cNvSpPr/>
          <p:nvPr/>
        </p:nvSpPr>
        <p:spPr>
          <a:xfrm>
            <a:off x="24393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</a:t>
            </a:r>
            <a:endParaRPr sz="3600"/>
          </a:p>
        </p:txBody>
      </p:sp>
      <p:sp>
        <p:nvSpPr>
          <p:cNvPr id="205" name="Google Shape;205;p30"/>
          <p:cNvSpPr/>
          <p:nvPr/>
        </p:nvSpPr>
        <p:spPr>
          <a:xfrm>
            <a:off x="29712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6" name="Google Shape;206;p30"/>
          <p:cNvSpPr/>
          <p:nvPr/>
        </p:nvSpPr>
        <p:spPr>
          <a:xfrm>
            <a:off x="35031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7" name="Google Shape;207;p30"/>
          <p:cNvSpPr/>
          <p:nvPr/>
        </p:nvSpPr>
        <p:spPr>
          <a:xfrm>
            <a:off x="4035000" y="2513250"/>
            <a:ext cx="5319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8" name="Google Shape;208;p30"/>
          <p:cNvSpPr/>
          <p:nvPr/>
        </p:nvSpPr>
        <p:spPr>
          <a:xfrm>
            <a:off x="4566900" y="1806225"/>
            <a:ext cx="1897200" cy="70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09" name="Google Shape;209;p30"/>
          <p:cNvSpPr/>
          <p:nvPr/>
        </p:nvSpPr>
        <p:spPr>
          <a:xfrm>
            <a:off x="4566900" y="2513250"/>
            <a:ext cx="1897200" cy="7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10" name="Google Shape;210;p30"/>
          <p:cNvSpPr/>
          <p:nvPr/>
        </p:nvSpPr>
        <p:spPr>
          <a:xfrm>
            <a:off x="2580750" y="3766525"/>
            <a:ext cx="3883500" cy="1128900"/>
          </a:xfrm>
          <a:prstGeom prst="wedgeRectCallout">
            <a:avLst>
              <a:gd fmla="val -69489" name="adj1"/>
              <a:gd fmla="val -8626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a shame!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Don’t worry - we’ll fix that!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continued...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remove elements from an array, it is often necessary to shift everything else back into place.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For example, to remove “s” we simply move everything one cell back and then delete the last element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311700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18" name="Google Shape;218;p31"/>
          <p:cNvSpPr/>
          <p:nvPr/>
        </p:nvSpPr>
        <p:spPr>
          <a:xfrm>
            <a:off x="609764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19" name="Google Shape;219;p31"/>
          <p:cNvSpPr/>
          <p:nvPr/>
        </p:nvSpPr>
        <p:spPr>
          <a:xfrm>
            <a:off x="907827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20" name="Google Shape;220;p31"/>
          <p:cNvSpPr/>
          <p:nvPr/>
        </p:nvSpPr>
        <p:spPr>
          <a:xfrm>
            <a:off x="1205891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21" name="Google Shape;221;p31"/>
          <p:cNvSpPr/>
          <p:nvPr/>
        </p:nvSpPr>
        <p:spPr>
          <a:xfrm>
            <a:off x="1503955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22" name="Google Shape;222;p31"/>
          <p:cNvSpPr/>
          <p:nvPr/>
        </p:nvSpPr>
        <p:spPr>
          <a:xfrm>
            <a:off x="1802019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23" name="Google Shape;223;p31"/>
          <p:cNvSpPr/>
          <p:nvPr/>
        </p:nvSpPr>
        <p:spPr>
          <a:xfrm>
            <a:off x="2100082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24" name="Google Shape;224;p31"/>
          <p:cNvSpPr/>
          <p:nvPr/>
        </p:nvSpPr>
        <p:spPr>
          <a:xfrm>
            <a:off x="2398146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25" name="Google Shape;225;p31"/>
          <p:cNvSpPr/>
          <p:nvPr/>
        </p:nvSpPr>
        <p:spPr>
          <a:xfrm>
            <a:off x="311700" y="3285390"/>
            <a:ext cx="297900" cy="394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26" name="Google Shape;226;p31"/>
          <p:cNvSpPr/>
          <p:nvPr/>
        </p:nvSpPr>
        <p:spPr>
          <a:xfrm>
            <a:off x="609764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27" name="Google Shape;227;p31"/>
          <p:cNvSpPr/>
          <p:nvPr/>
        </p:nvSpPr>
        <p:spPr>
          <a:xfrm>
            <a:off x="907827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8" name="Google Shape;228;p31"/>
          <p:cNvSpPr/>
          <p:nvPr/>
        </p:nvSpPr>
        <p:spPr>
          <a:xfrm>
            <a:off x="1205891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29" name="Google Shape;229;p31"/>
          <p:cNvSpPr/>
          <p:nvPr/>
        </p:nvSpPr>
        <p:spPr>
          <a:xfrm>
            <a:off x="1503955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30" name="Google Shape;230;p31"/>
          <p:cNvSpPr/>
          <p:nvPr/>
        </p:nvSpPr>
        <p:spPr>
          <a:xfrm>
            <a:off x="1802019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1" name="Google Shape;231;p31"/>
          <p:cNvSpPr/>
          <p:nvPr/>
        </p:nvSpPr>
        <p:spPr>
          <a:xfrm>
            <a:off x="2100082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2" name="Google Shape;232;p31"/>
          <p:cNvSpPr/>
          <p:nvPr/>
        </p:nvSpPr>
        <p:spPr>
          <a:xfrm>
            <a:off x="2398146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3" name="Google Shape;233;p31"/>
          <p:cNvSpPr/>
          <p:nvPr/>
        </p:nvSpPr>
        <p:spPr>
          <a:xfrm>
            <a:off x="2696210" y="2897950"/>
            <a:ext cx="1063200" cy="38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34" name="Google Shape;234;p31"/>
          <p:cNvSpPr/>
          <p:nvPr/>
        </p:nvSpPr>
        <p:spPr>
          <a:xfrm>
            <a:off x="2696210" y="3285390"/>
            <a:ext cx="10632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35" name="Google Shape;235;p31"/>
          <p:cNvSpPr/>
          <p:nvPr/>
        </p:nvSpPr>
        <p:spPr>
          <a:xfrm>
            <a:off x="3888475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6" name="Google Shape;236;p31"/>
          <p:cNvSpPr/>
          <p:nvPr/>
        </p:nvSpPr>
        <p:spPr>
          <a:xfrm>
            <a:off x="4186539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37" name="Google Shape;237;p31"/>
          <p:cNvSpPr/>
          <p:nvPr/>
        </p:nvSpPr>
        <p:spPr>
          <a:xfrm>
            <a:off x="4484602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38" name="Google Shape;238;p31"/>
          <p:cNvSpPr/>
          <p:nvPr/>
        </p:nvSpPr>
        <p:spPr>
          <a:xfrm>
            <a:off x="4782666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9" name="Google Shape;239;p31"/>
          <p:cNvSpPr/>
          <p:nvPr/>
        </p:nvSpPr>
        <p:spPr>
          <a:xfrm>
            <a:off x="5080730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40" name="Google Shape;240;p31"/>
          <p:cNvSpPr/>
          <p:nvPr/>
        </p:nvSpPr>
        <p:spPr>
          <a:xfrm>
            <a:off x="5378794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41" name="Google Shape;241;p31"/>
          <p:cNvSpPr/>
          <p:nvPr/>
        </p:nvSpPr>
        <p:spPr>
          <a:xfrm>
            <a:off x="5676857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42" name="Google Shape;242;p31"/>
          <p:cNvSpPr/>
          <p:nvPr/>
        </p:nvSpPr>
        <p:spPr>
          <a:xfrm>
            <a:off x="5974921" y="289795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43" name="Google Shape;243;p31"/>
          <p:cNvSpPr/>
          <p:nvPr/>
        </p:nvSpPr>
        <p:spPr>
          <a:xfrm>
            <a:off x="3888475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44" name="Google Shape;244;p31"/>
          <p:cNvSpPr/>
          <p:nvPr/>
        </p:nvSpPr>
        <p:spPr>
          <a:xfrm>
            <a:off x="4186539" y="3285390"/>
            <a:ext cx="297900" cy="394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5" name="Google Shape;245;p31"/>
          <p:cNvSpPr/>
          <p:nvPr/>
        </p:nvSpPr>
        <p:spPr>
          <a:xfrm>
            <a:off x="4484602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6" name="Google Shape;246;p31"/>
          <p:cNvSpPr/>
          <p:nvPr/>
        </p:nvSpPr>
        <p:spPr>
          <a:xfrm>
            <a:off x="4782666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47" name="Google Shape;247;p31"/>
          <p:cNvSpPr/>
          <p:nvPr/>
        </p:nvSpPr>
        <p:spPr>
          <a:xfrm>
            <a:off x="5080730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48" name="Google Shape;248;p31"/>
          <p:cNvSpPr/>
          <p:nvPr/>
        </p:nvSpPr>
        <p:spPr>
          <a:xfrm>
            <a:off x="5378794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49" name="Google Shape;249;p31"/>
          <p:cNvSpPr/>
          <p:nvPr/>
        </p:nvSpPr>
        <p:spPr>
          <a:xfrm>
            <a:off x="5676857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0" name="Google Shape;250;p31"/>
          <p:cNvSpPr/>
          <p:nvPr/>
        </p:nvSpPr>
        <p:spPr>
          <a:xfrm>
            <a:off x="5974921" y="3285390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1" name="Google Shape;251;p31"/>
          <p:cNvSpPr/>
          <p:nvPr/>
        </p:nvSpPr>
        <p:spPr>
          <a:xfrm>
            <a:off x="6272985" y="2897950"/>
            <a:ext cx="1063200" cy="38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52" name="Google Shape;252;p31"/>
          <p:cNvSpPr/>
          <p:nvPr/>
        </p:nvSpPr>
        <p:spPr>
          <a:xfrm>
            <a:off x="6272985" y="3285390"/>
            <a:ext cx="10632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53" name="Google Shape;253;p31"/>
          <p:cNvSpPr/>
          <p:nvPr/>
        </p:nvSpPr>
        <p:spPr>
          <a:xfrm>
            <a:off x="311700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4" name="Google Shape;254;p31"/>
          <p:cNvSpPr/>
          <p:nvPr/>
        </p:nvSpPr>
        <p:spPr>
          <a:xfrm>
            <a:off x="609764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55" name="Google Shape;255;p31"/>
          <p:cNvSpPr/>
          <p:nvPr/>
        </p:nvSpPr>
        <p:spPr>
          <a:xfrm>
            <a:off x="907827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56" name="Google Shape;256;p31"/>
          <p:cNvSpPr/>
          <p:nvPr/>
        </p:nvSpPr>
        <p:spPr>
          <a:xfrm>
            <a:off x="1205891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7" name="Google Shape;257;p31"/>
          <p:cNvSpPr/>
          <p:nvPr/>
        </p:nvSpPr>
        <p:spPr>
          <a:xfrm>
            <a:off x="1503955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58" name="Google Shape;258;p31"/>
          <p:cNvSpPr/>
          <p:nvPr/>
        </p:nvSpPr>
        <p:spPr>
          <a:xfrm>
            <a:off x="1802019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59" name="Google Shape;259;p31"/>
          <p:cNvSpPr/>
          <p:nvPr/>
        </p:nvSpPr>
        <p:spPr>
          <a:xfrm>
            <a:off x="2100082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60" name="Google Shape;260;p31"/>
          <p:cNvSpPr/>
          <p:nvPr/>
        </p:nvSpPr>
        <p:spPr>
          <a:xfrm>
            <a:off x="2398146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61" name="Google Shape;261;p31"/>
          <p:cNvSpPr/>
          <p:nvPr/>
        </p:nvSpPr>
        <p:spPr>
          <a:xfrm>
            <a:off x="311700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62" name="Google Shape;262;p31"/>
          <p:cNvSpPr/>
          <p:nvPr/>
        </p:nvSpPr>
        <p:spPr>
          <a:xfrm>
            <a:off x="609764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63" name="Google Shape;263;p31"/>
          <p:cNvSpPr/>
          <p:nvPr/>
        </p:nvSpPr>
        <p:spPr>
          <a:xfrm>
            <a:off x="907827" y="4174665"/>
            <a:ext cx="297900" cy="394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64" name="Google Shape;264;p31"/>
          <p:cNvSpPr/>
          <p:nvPr/>
        </p:nvSpPr>
        <p:spPr>
          <a:xfrm>
            <a:off x="1205891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65" name="Google Shape;265;p31"/>
          <p:cNvSpPr/>
          <p:nvPr/>
        </p:nvSpPr>
        <p:spPr>
          <a:xfrm>
            <a:off x="1503955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66" name="Google Shape;266;p31"/>
          <p:cNvSpPr/>
          <p:nvPr/>
        </p:nvSpPr>
        <p:spPr>
          <a:xfrm>
            <a:off x="1802019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7" name="Google Shape;267;p31"/>
          <p:cNvSpPr/>
          <p:nvPr/>
        </p:nvSpPr>
        <p:spPr>
          <a:xfrm>
            <a:off x="2100082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8" name="Google Shape;268;p31"/>
          <p:cNvSpPr/>
          <p:nvPr/>
        </p:nvSpPr>
        <p:spPr>
          <a:xfrm>
            <a:off x="2398146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9" name="Google Shape;269;p31"/>
          <p:cNvSpPr/>
          <p:nvPr/>
        </p:nvSpPr>
        <p:spPr>
          <a:xfrm>
            <a:off x="2696210" y="3787225"/>
            <a:ext cx="1063200" cy="38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70" name="Google Shape;270;p31"/>
          <p:cNvSpPr/>
          <p:nvPr/>
        </p:nvSpPr>
        <p:spPr>
          <a:xfrm>
            <a:off x="2696210" y="4174665"/>
            <a:ext cx="10632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71" name="Google Shape;271;p31"/>
          <p:cNvSpPr/>
          <p:nvPr/>
        </p:nvSpPr>
        <p:spPr>
          <a:xfrm>
            <a:off x="3888475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72" name="Google Shape;272;p31"/>
          <p:cNvSpPr/>
          <p:nvPr/>
        </p:nvSpPr>
        <p:spPr>
          <a:xfrm>
            <a:off x="4186539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73" name="Google Shape;273;p31"/>
          <p:cNvSpPr/>
          <p:nvPr/>
        </p:nvSpPr>
        <p:spPr>
          <a:xfrm>
            <a:off x="4484602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4" name="Google Shape;274;p31"/>
          <p:cNvSpPr/>
          <p:nvPr/>
        </p:nvSpPr>
        <p:spPr>
          <a:xfrm>
            <a:off x="4782666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5" name="Google Shape;275;p31"/>
          <p:cNvSpPr/>
          <p:nvPr/>
        </p:nvSpPr>
        <p:spPr>
          <a:xfrm>
            <a:off x="5080730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76" name="Google Shape;276;p31"/>
          <p:cNvSpPr/>
          <p:nvPr/>
        </p:nvSpPr>
        <p:spPr>
          <a:xfrm>
            <a:off x="5378794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77" name="Google Shape;277;p31"/>
          <p:cNvSpPr/>
          <p:nvPr/>
        </p:nvSpPr>
        <p:spPr>
          <a:xfrm>
            <a:off x="5676857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78" name="Google Shape;278;p31"/>
          <p:cNvSpPr/>
          <p:nvPr/>
        </p:nvSpPr>
        <p:spPr>
          <a:xfrm>
            <a:off x="5974921" y="37872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79" name="Google Shape;279;p31"/>
          <p:cNvSpPr/>
          <p:nvPr/>
        </p:nvSpPr>
        <p:spPr>
          <a:xfrm>
            <a:off x="3888475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80" name="Google Shape;280;p31"/>
          <p:cNvSpPr/>
          <p:nvPr/>
        </p:nvSpPr>
        <p:spPr>
          <a:xfrm>
            <a:off x="4186539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81" name="Google Shape;281;p31"/>
          <p:cNvSpPr/>
          <p:nvPr/>
        </p:nvSpPr>
        <p:spPr>
          <a:xfrm>
            <a:off x="4484602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82" name="Google Shape;282;p31"/>
          <p:cNvSpPr/>
          <p:nvPr/>
        </p:nvSpPr>
        <p:spPr>
          <a:xfrm>
            <a:off x="4782666" y="4174665"/>
            <a:ext cx="297900" cy="394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83" name="Google Shape;283;p31"/>
          <p:cNvSpPr/>
          <p:nvPr/>
        </p:nvSpPr>
        <p:spPr>
          <a:xfrm>
            <a:off x="5080730" y="4174665"/>
            <a:ext cx="297900" cy="394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4" name="Google Shape;284;p31"/>
          <p:cNvSpPr/>
          <p:nvPr/>
        </p:nvSpPr>
        <p:spPr>
          <a:xfrm>
            <a:off x="5378794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5" name="Google Shape;285;p31"/>
          <p:cNvSpPr/>
          <p:nvPr/>
        </p:nvSpPr>
        <p:spPr>
          <a:xfrm>
            <a:off x="5676857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6" name="Google Shape;286;p31"/>
          <p:cNvSpPr/>
          <p:nvPr/>
        </p:nvSpPr>
        <p:spPr>
          <a:xfrm>
            <a:off x="5974921" y="41746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7" name="Google Shape;287;p31"/>
          <p:cNvSpPr/>
          <p:nvPr/>
        </p:nvSpPr>
        <p:spPr>
          <a:xfrm>
            <a:off x="6272985" y="3787225"/>
            <a:ext cx="1063200" cy="38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88" name="Google Shape;288;p31"/>
          <p:cNvSpPr/>
          <p:nvPr/>
        </p:nvSpPr>
        <p:spPr>
          <a:xfrm>
            <a:off x="6272985" y="4174665"/>
            <a:ext cx="10632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/>
          <p:nvPr/>
        </p:nvSpPr>
        <p:spPr>
          <a:xfrm>
            <a:off x="2848150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94" name="Google Shape;294;p32"/>
          <p:cNvSpPr/>
          <p:nvPr/>
        </p:nvSpPr>
        <p:spPr>
          <a:xfrm>
            <a:off x="3146214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95" name="Google Shape;295;p32"/>
          <p:cNvSpPr/>
          <p:nvPr/>
        </p:nvSpPr>
        <p:spPr>
          <a:xfrm>
            <a:off x="3444277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6" name="Google Shape;296;p32"/>
          <p:cNvSpPr/>
          <p:nvPr/>
        </p:nvSpPr>
        <p:spPr>
          <a:xfrm>
            <a:off x="3742341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7" name="Google Shape;297;p32"/>
          <p:cNvSpPr/>
          <p:nvPr/>
        </p:nvSpPr>
        <p:spPr>
          <a:xfrm>
            <a:off x="4040405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98" name="Google Shape;298;p32"/>
          <p:cNvSpPr/>
          <p:nvPr/>
        </p:nvSpPr>
        <p:spPr>
          <a:xfrm>
            <a:off x="4338469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99" name="Google Shape;299;p32"/>
          <p:cNvSpPr/>
          <p:nvPr/>
        </p:nvSpPr>
        <p:spPr>
          <a:xfrm>
            <a:off x="4636532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300" name="Google Shape;300;p32"/>
          <p:cNvSpPr/>
          <p:nvPr/>
        </p:nvSpPr>
        <p:spPr>
          <a:xfrm>
            <a:off x="4934596" y="218092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301" name="Google Shape;301;p32"/>
          <p:cNvSpPr/>
          <p:nvPr/>
        </p:nvSpPr>
        <p:spPr>
          <a:xfrm>
            <a:off x="2848150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302" name="Google Shape;302;p32"/>
          <p:cNvSpPr/>
          <p:nvPr/>
        </p:nvSpPr>
        <p:spPr>
          <a:xfrm>
            <a:off x="3146214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03" name="Google Shape;303;p32"/>
          <p:cNvSpPr/>
          <p:nvPr/>
        </p:nvSpPr>
        <p:spPr>
          <a:xfrm>
            <a:off x="3444277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304" name="Google Shape;304;p32"/>
          <p:cNvSpPr/>
          <p:nvPr/>
        </p:nvSpPr>
        <p:spPr>
          <a:xfrm>
            <a:off x="3742341" y="2568365"/>
            <a:ext cx="297900" cy="394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5" name="Google Shape;305;p32"/>
          <p:cNvSpPr/>
          <p:nvPr/>
        </p:nvSpPr>
        <p:spPr>
          <a:xfrm>
            <a:off x="4040405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6" name="Google Shape;306;p32"/>
          <p:cNvSpPr/>
          <p:nvPr/>
        </p:nvSpPr>
        <p:spPr>
          <a:xfrm>
            <a:off x="4338469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7" name="Google Shape;307;p32"/>
          <p:cNvSpPr/>
          <p:nvPr/>
        </p:nvSpPr>
        <p:spPr>
          <a:xfrm>
            <a:off x="4636532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8" name="Google Shape;308;p32"/>
          <p:cNvSpPr/>
          <p:nvPr/>
        </p:nvSpPr>
        <p:spPr>
          <a:xfrm>
            <a:off x="4934596" y="2568365"/>
            <a:ext cx="2979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9" name="Google Shape;309;p32"/>
          <p:cNvSpPr/>
          <p:nvPr/>
        </p:nvSpPr>
        <p:spPr>
          <a:xfrm>
            <a:off x="5232660" y="2180925"/>
            <a:ext cx="1063200" cy="38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310" name="Google Shape;310;p32"/>
          <p:cNvSpPr/>
          <p:nvPr/>
        </p:nvSpPr>
        <p:spPr>
          <a:xfrm>
            <a:off x="5232660" y="2568365"/>
            <a:ext cx="10632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311" name="Google Shape;311;p32"/>
          <p:cNvSpPr txBox="1"/>
          <p:nvPr/>
        </p:nvSpPr>
        <p:spPr>
          <a:xfrm>
            <a:off x="1224325" y="1136225"/>
            <a:ext cx="65262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If we write a zero over the “e”, it says ham now.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Fixed it!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continued</a:t>
            </a:r>
            <a:endParaRPr/>
          </a:p>
        </p:txBody>
      </p:sp>
      <p:sp>
        <p:nvSpPr>
          <p:cNvPr id="317" name="Google Shape;3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When inserting an item into the middle of an array, it is always necessary to shift all of the items to make room!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This makes arrays inefficient for some uses.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Fortunately, there’s a solution!</a:t>
            </a:r>
            <a:endParaRPr sz="2400"/>
          </a:p>
        </p:txBody>
      </p:sp>
      <p:sp>
        <p:nvSpPr>
          <p:cNvPr id="318" name="Google Shape;318;p33"/>
          <p:cNvSpPr/>
          <p:nvPr/>
        </p:nvSpPr>
        <p:spPr>
          <a:xfrm>
            <a:off x="311700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19" name="Google Shape;319;p33"/>
          <p:cNvSpPr/>
          <p:nvPr/>
        </p:nvSpPr>
        <p:spPr>
          <a:xfrm>
            <a:off x="584395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20" name="Google Shape;320;p33"/>
          <p:cNvSpPr/>
          <p:nvPr/>
        </p:nvSpPr>
        <p:spPr>
          <a:xfrm>
            <a:off x="857090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1" name="Google Shape;321;p33"/>
          <p:cNvSpPr/>
          <p:nvPr/>
        </p:nvSpPr>
        <p:spPr>
          <a:xfrm>
            <a:off x="1129785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2" name="Google Shape;322;p33"/>
          <p:cNvSpPr/>
          <p:nvPr/>
        </p:nvSpPr>
        <p:spPr>
          <a:xfrm>
            <a:off x="1402480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23" name="Google Shape;323;p33"/>
          <p:cNvSpPr/>
          <p:nvPr/>
        </p:nvSpPr>
        <p:spPr>
          <a:xfrm>
            <a:off x="311700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24" name="Google Shape;324;p33"/>
          <p:cNvSpPr/>
          <p:nvPr/>
        </p:nvSpPr>
        <p:spPr>
          <a:xfrm>
            <a:off x="584395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25" name="Google Shape;325;p33"/>
          <p:cNvSpPr/>
          <p:nvPr/>
        </p:nvSpPr>
        <p:spPr>
          <a:xfrm>
            <a:off x="857090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26" name="Google Shape;326;p33"/>
          <p:cNvSpPr/>
          <p:nvPr/>
        </p:nvSpPr>
        <p:spPr>
          <a:xfrm>
            <a:off x="1129785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27" name="Google Shape;327;p33"/>
          <p:cNvSpPr/>
          <p:nvPr/>
        </p:nvSpPr>
        <p:spPr>
          <a:xfrm>
            <a:off x="1402480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8" name="Google Shape;328;p33"/>
          <p:cNvSpPr/>
          <p:nvPr/>
        </p:nvSpPr>
        <p:spPr>
          <a:xfrm>
            <a:off x="2014975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29" name="Google Shape;329;p33"/>
          <p:cNvSpPr/>
          <p:nvPr/>
        </p:nvSpPr>
        <p:spPr>
          <a:xfrm>
            <a:off x="2287670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30" name="Google Shape;330;p33"/>
          <p:cNvSpPr/>
          <p:nvPr/>
        </p:nvSpPr>
        <p:spPr>
          <a:xfrm>
            <a:off x="2560365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1" name="Google Shape;331;p33"/>
          <p:cNvSpPr/>
          <p:nvPr/>
        </p:nvSpPr>
        <p:spPr>
          <a:xfrm>
            <a:off x="2833060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2" name="Google Shape;332;p33"/>
          <p:cNvSpPr/>
          <p:nvPr/>
        </p:nvSpPr>
        <p:spPr>
          <a:xfrm>
            <a:off x="3105755" y="2265200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33" name="Google Shape;333;p33"/>
          <p:cNvSpPr/>
          <p:nvPr/>
        </p:nvSpPr>
        <p:spPr>
          <a:xfrm>
            <a:off x="2014975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34" name="Google Shape;334;p33"/>
          <p:cNvSpPr/>
          <p:nvPr/>
        </p:nvSpPr>
        <p:spPr>
          <a:xfrm>
            <a:off x="2287670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35" name="Google Shape;335;p33"/>
          <p:cNvSpPr/>
          <p:nvPr/>
        </p:nvSpPr>
        <p:spPr>
          <a:xfrm>
            <a:off x="2560365" y="2621925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36" name="Google Shape;336;p33"/>
          <p:cNvSpPr/>
          <p:nvPr/>
        </p:nvSpPr>
        <p:spPr>
          <a:xfrm>
            <a:off x="2833060" y="2621925"/>
            <a:ext cx="272400" cy="363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37" name="Google Shape;337;p33"/>
          <p:cNvSpPr/>
          <p:nvPr/>
        </p:nvSpPr>
        <p:spPr>
          <a:xfrm>
            <a:off x="3105755" y="2621925"/>
            <a:ext cx="272400" cy="363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38" name="Google Shape;338;p33"/>
          <p:cNvSpPr/>
          <p:nvPr/>
        </p:nvSpPr>
        <p:spPr>
          <a:xfrm>
            <a:off x="1674875" y="2265200"/>
            <a:ext cx="340200" cy="71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3378450" y="2265200"/>
            <a:ext cx="340200" cy="71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3718950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41" name="Google Shape;341;p33"/>
          <p:cNvSpPr/>
          <p:nvPr/>
        </p:nvSpPr>
        <p:spPr>
          <a:xfrm>
            <a:off x="3991645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42" name="Google Shape;342;p33"/>
          <p:cNvSpPr/>
          <p:nvPr/>
        </p:nvSpPr>
        <p:spPr>
          <a:xfrm>
            <a:off x="4264340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43" name="Google Shape;343;p33"/>
          <p:cNvSpPr/>
          <p:nvPr/>
        </p:nvSpPr>
        <p:spPr>
          <a:xfrm>
            <a:off x="4537035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4" name="Google Shape;344;p33"/>
          <p:cNvSpPr/>
          <p:nvPr/>
        </p:nvSpPr>
        <p:spPr>
          <a:xfrm>
            <a:off x="4809730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45" name="Google Shape;345;p33"/>
          <p:cNvSpPr/>
          <p:nvPr/>
        </p:nvSpPr>
        <p:spPr>
          <a:xfrm>
            <a:off x="3718950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46" name="Google Shape;346;p33"/>
          <p:cNvSpPr/>
          <p:nvPr/>
        </p:nvSpPr>
        <p:spPr>
          <a:xfrm>
            <a:off x="3991645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47" name="Google Shape;347;p33"/>
          <p:cNvSpPr/>
          <p:nvPr/>
        </p:nvSpPr>
        <p:spPr>
          <a:xfrm>
            <a:off x="4264340" y="2621913"/>
            <a:ext cx="272400" cy="3630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8" name="Google Shape;348;p33"/>
          <p:cNvSpPr/>
          <p:nvPr/>
        </p:nvSpPr>
        <p:spPr>
          <a:xfrm>
            <a:off x="4537035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49" name="Google Shape;349;p33"/>
          <p:cNvSpPr/>
          <p:nvPr/>
        </p:nvSpPr>
        <p:spPr>
          <a:xfrm>
            <a:off x="4809730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50" name="Google Shape;350;p33"/>
          <p:cNvSpPr/>
          <p:nvPr/>
        </p:nvSpPr>
        <p:spPr>
          <a:xfrm>
            <a:off x="5082425" y="2265200"/>
            <a:ext cx="340200" cy="71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3"/>
          <p:cNvSpPr/>
          <p:nvPr/>
        </p:nvSpPr>
        <p:spPr>
          <a:xfrm>
            <a:off x="5422925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52" name="Google Shape;352;p33"/>
          <p:cNvSpPr/>
          <p:nvPr/>
        </p:nvSpPr>
        <p:spPr>
          <a:xfrm>
            <a:off x="5695620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53" name="Google Shape;353;p33"/>
          <p:cNvSpPr/>
          <p:nvPr/>
        </p:nvSpPr>
        <p:spPr>
          <a:xfrm>
            <a:off x="5968315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54" name="Google Shape;354;p33"/>
          <p:cNvSpPr/>
          <p:nvPr/>
        </p:nvSpPr>
        <p:spPr>
          <a:xfrm>
            <a:off x="6241010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5" name="Google Shape;355;p33"/>
          <p:cNvSpPr/>
          <p:nvPr/>
        </p:nvSpPr>
        <p:spPr>
          <a:xfrm>
            <a:off x="6513705" y="2265188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56" name="Google Shape;356;p33"/>
          <p:cNvSpPr/>
          <p:nvPr/>
        </p:nvSpPr>
        <p:spPr>
          <a:xfrm>
            <a:off x="5422925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57" name="Google Shape;357;p33"/>
          <p:cNvSpPr/>
          <p:nvPr/>
        </p:nvSpPr>
        <p:spPr>
          <a:xfrm>
            <a:off x="5695620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58" name="Google Shape;358;p33"/>
          <p:cNvSpPr/>
          <p:nvPr/>
        </p:nvSpPr>
        <p:spPr>
          <a:xfrm>
            <a:off x="5968315" y="2621913"/>
            <a:ext cx="272400" cy="363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359" name="Google Shape;359;p33"/>
          <p:cNvSpPr/>
          <p:nvPr/>
        </p:nvSpPr>
        <p:spPr>
          <a:xfrm>
            <a:off x="6241010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60" name="Google Shape;360;p33"/>
          <p:cNvSpPr/>
          <p:nvPr/>
        </p:nvSpPr>
        <p:spPr>
          <a:xfrm>
            <a:off x="6513705" y="2621913"/>
            <a:ext cx="272400" cy="36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  <p:sp>
        <p:nvSpPr>
          <p:cNvPr id="366" name="Google Shape;366;p34"/>
          <p:cNvSpPr txBox="1"/>
          <p:nvPr>
            <p:ph idx="1" type="body"/>
          </p:nvPr>
        </p:nvSpPr>
        <p:spPr>
          <a:xfrm>
            <a:off x="5421950" y="2786375"/>
            <a:ext cx="34104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In a linked list, each location stores a value, and also the location of the next value.</a:t>
            </a:r>
            <a:endParaRPr sz="2400"/>
          </a:p>
        </p:txBody>
      </p:sp>
      <p:sp>
        <p:nvSpPr>
          <p:cNvPr id="367" name="Google Shape;367;p34"/>
          <p:cNvSpPr/>
          <p:nvPr/>
        </p:nvSpPr>
        <p:spPr>
          <a:xfrm>
            <a:off x="311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311700" y="2153600"/>
            <a:ext cx="1092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1403700" y="21536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857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1403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1949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3" name="Google Shape;373;p34"/>
          <p:cNvSpPr/>
          <p:nvPr/>
        </p:nvSpPr>
        <p:spPr>
          <a:xfrm>
            <a:off x="1949700" y="2153600"/>
            <a:ext cx="1092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3041700" y="21536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2495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3041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3587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3587700" y="2153600"/>
            <a:ext cx="10920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4679700" y="2153600"/>
            <a:ext cx="5460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4133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4679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5225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5225700" y="2153600"/>
            <a:ext cx="1092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6317700" y="21536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5771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6317700" y="1580900"/>
            <a:ext cx="546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6863700" y="1580900"/>
            <a:ext cx="14988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6863700" y="2153600"/>
            <a:ext cx="14988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1194600" y="3071725"/>
            <a:ext cx="1847100" cy="682500"/>
          </a:xfrm>
          <a:prstGeom prst="wedgeRectCallout">
            <a:avLst>
              <a:gd fmla="val -23319" name="adj1"/>
              <a:gd fmla="val -11180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is the position that comes after “A”</a:t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1782250" y="553125"/>
            <a:ext cx="1567800" cy="754800"/>
          </a:xfrm>
          <a:prstGeom prst="wedgeRectCallout">
            <a:avLst>
              <a:gd fmla="val -21227" name="adj1"/>
              <a:gd fmla="val 10451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“B” is located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3</a:t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3657300" y="2885625"/>
            <a:ext cx="1498800" cy="930600"/>
          </a:xfrm>
          <a:prstGeom prst="wedgeRoundRectCallout">
            <a:avLst>
              <a:gd fmla="val -21664" name="adj1"/>
              <a:gd fmla="val -67333" name="adj2"/>
              <a:gd fmla="val 0" name="adj3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“node”</a:t>
            </a:r>
            <a:endParaRPr/>
          </a:p>
        </p:txBody>
      </p:sp>
      <p:pic>
        <p:nvPicPr>
          <p:cNvPr id="392" name="Google Shape;3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00" y="4099650"/>
            <a:ext cx="3890086" cy="8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 Continued</a:t>
            </a:r>
            <a:endParaRPr/>
          </a:p>
        </p:txBody>
      </p:sp>
      <p:sp>
        <p:nvSpPr>
          <p:cNvPr id="398" name="Google Shape;3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Let’s add “C” to the list!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S </a:t>
            </a:r>
            <a:endParaRPr sz="2400"/>
          </a:p>
        </p:txBody>
      </p:sp>
      <p:sp>
        <p:nvSpPr>
          <p:cNvPr id="399" name="Google Shape;399;p35"/>
          <p:cNvSpPr/>
          <p:nvPr/>
        </p:nvSpPr>
        <p:spPr>
          <a:xfrm>
            <a:off x="311700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311700" y="20968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1196507" y="20968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754104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1196507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1638911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1638911" y="20968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06" name="Google Shape;406;p35"/>
          <p:cNvSpPr/>
          <p:nvPr/>
        </p:nvSpPr>
        <p:spPr>
          <a:xfrm>
            <a:off x="2523718" y="20968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2081315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2523718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2966122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2966122" y="20968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3850929" y="20968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3408525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13" name="Google Shape;413;p35"/>
          <p:cNvSpPr/>
          <p:nvPr/>
        </p:nvSpPr>
        <p:spPr>
          <a:xfrm>
            <a:off x="3850929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4293333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4293333" y="20968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5178140" y="20968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4735736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5178140" y="17422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5620533" y="1742200"/>
            <a:ext cx="442200" cy="354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5620533" y="2096885"/>
            <a:ext cx="885000" cy="354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6505340" y="2096885"/>
            <a:ext cx="442200" cy="354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6062936" y="1742200"/>
            <a:ext cx="442200" cy="354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13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6505340" y="1742200"/>
            <a:ext cx="442200" cy="354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311700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25" name="Google Shape;425;p35"/>
          <p:cNvSpPr/>
          <p:nvPr/>
        </p:nvSpPr>
        <p:spPr>
          <a:xfrm>
            <a:off x="311700" y="2860723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26" name="Google Shape;426;p35"/>
          <p:cNvSpPr/>
          <p:nvPr/>
        </p:nvSpPr>
        <p:spPr>
          <a:xfrm>
            <a:off x="1196507" y="2860723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27" name="Google Shape;427;p35"/>
          <p:cNvSpPr/>
          <p:nvPr/>
        </p:nvSpPr>
        <p:spPr>
          <a:xfrm>
            <a:off x="754104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1196507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1638911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1638911" y="2860723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2523718" y="2860723"/>
            <a:ext cx="442200" cy="354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32" name="Google Shape;432;p35"/>
          <p:cNvSpPr/>
          <p:nvPr/>
        </p:nvSpPr>
        <p:spPr>
          <a:xfrm>
            <a:off x="2081315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33" name="Google Shape;433;p35"/>
          <p:cNvSpPr/>
          <p:nvPr/>
        </p:nvSpPr>
        <p:spPr>
          <a:xfrm>
            <a:off x="2523718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34" name="Google Shape;434;p35"/>
          <p:cNvSpPr/>
          <p:nvPr/>
        </p:nvSpPr>
        <p:spPr>
          <a:xfrm>
            <a:off x="2966122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35" name="Google Shape;435;p35"/>
          <p:cNvSpPr/>
          <p:nvPr/>
        </p:nvSpPr>
        <p:spPr>
          <a:xfrm>
            <a:off x="2966122" y="2860723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36" name="Google Shape;436;p35"/>
          <p:cNvSpPr/>
          <p:nvPr/>
        </p:nvSpPr>
        <p:spPr>
          <a:xfrm>
            <a:off x="3850929" y="2860723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37" name="Google Shape;437;p35"/>
          <p:cNvSpPr/>
          <p:nvPr/>
        </p:nvSpPr>
        <p:spPr>
          <a:xfrm>
            <a:off x="3408525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3850929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4293333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40" name="Google Shape;440;p35"/>
          <p:cNvSpPr/>
          <p:nvPr/>
        </p:nvSpPr>
        <p:spPr>
          <a:xfrm>
            <a:off x="4293333" y="2860723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41" name="Google Shape;441;p35"/>
          <p:cNvSpPr/>
          <p:nvPr/>
        </p:nvSpPr>
        <p:spPr>
          <a:xfrm>
            <a:off x="5178140" y="2860723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5"/>
          <p:cNvSpPr/>
          <p:nvPr/>
        </p:nvSpPr>
        <p:spPr>
          <a:xfrm>
            <a:off x="4735736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43" name="Google Shape;443;p35"/>
          <p:cNvSpPr/>
          <p:nvPr/>
        </p:nvSpPr>
        <p:spPr>
          <a:xfrm>
            <a:off x="5178140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44" name="Google Shape;444;p35"/>
          <p:cNvSpPr/>
          <p:nvPr/>
        </p:nvSpPr>
        <p:spPr>
          <a:xfrm>
            <a:off x="5620533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45" name="Google Shape;445;p35"/>
          <p:cNvSpPr/>
          <p:nvPr/>
        </p:nvSpPr>
        <p:spPr>
          <a:xfrm>
            <a:off x="5620533" y="2860723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46" name="Google Shape;446;p35"/>
          <p:cNvSpPr/>
          <p:nvPr/>
        </p:nvSpPr>
        <p:spPr>
          <a:xfrm>
            <a:off x="6505340" y="2860723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6062936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48" name="Google Shape;448;p35"/>
          <p:cNvSpPr/>
          <p:nvPr/>
        </p:nvSpPr>
        <p:spPr>
          <a:xfrm>
            <a:off x="6505340" y="2506038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311700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311700" y="36245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51" name="Google Shape;451;p35"/>
          <p:cNvSpPr/>
          <p:nvPr/>
        </p:nvSpPr>
        <p:spPr>
          <a:xfrm>
            <a:off x="1196507" y="36245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2" name="Google Shape;452;p35"/>
          <p:cNvSpPr/>
          <p:nvPr/>
        </p:nvSpPr>
        <p:spPr>
          <a:xfrm>
            <a:off x="754104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1196507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1638911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1638911" y="36245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2523718" y="36245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57" name="Google Shape;457;p35"/>
          <p:cNvSpPr/>
          <p:nvPr/>
        </p:nvSpPr>
        <p:spPr>
          <a:xfrm>
            <a:off x="2081315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8" name="Google Shape;458;p35"/>
          <p:cNvSpPr/>
          <p:nvPr/>
        </p:nvSpPr>
        <p:spPr>
          <a:xfrm>
            <a:off x="2523718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59" name="Google Shape;459;p35"/>
          <p:cNvSpPr/>
          <p:nvPr/>
        </p:nvSpPr>
        <p:spPr>
          <a:xfrm>
            <a:off x="2966122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2966122" y="36245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>
            <a:off x="3850929" y="36245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3408525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>
            <a:off x="3850929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64" name="Google Shape;464;p35"/>
          <p:cNvSpPr/>
          <p:nvPr/>
        </p:nvSpPr>
        <p:spPr>
          <a:xfrm>
            <a:off x="4293333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65" name="Google Shape;465;p35"/>
          <p:cNvSpPr/>
          <p:nvPr/>
        </p:nvSpPr>
        <p:spPr>
          <a:xfrm>
            <a:off x="4293333" y="36245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5178140" y="3624585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5"/>
          <p:cNvSpPr/>
          <p:nvPr/>
        </p:nvSpPr>
        <p:spPr>
          <a:xfrm>
            <a:off x="4735736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5178140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69" name="Google Shape;469;p35"/>
          <p:cNvSpPr/>
          <p:nvPr/>
        </p:nvSpPr>
        <p:spPr>
          <a:xfrm>
            <a:off x="5620533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70" name="Google Shape;470;p35"/>
          <p:cNvSpPr/>
          <p:nvPr/>
        </p:nvSpPr>
        <p:spPr>
          <a:xfrm>
            <a:off x="5620533" y="3624585"/>
            <a:ext cx="8850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6505340" y="3624585"/>
            <a:ext cx="442200" cy="354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72" name="Google Shape;472;p35"/>
          <p:cNvSpPr/>
          <p:nvPr/>
        </p:nvSpPr>
        <p:spPr>
          <a:xfrm>
            <a:off x="6062936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73" name="Google Shape;473;p35"/>
          <p:cNvSpPr/>
          <p:nvPr/>
        </p:nvSpPr>
        <p:spPr>
          <a:xfrm>
            <a:off x="6505340" y="3269900"/>
            <a:ext cx="442200" cy="3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5632875" y="962525"/>
            <a:ext cx="2667600" cy="72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okay to add C here;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to shift anything!</a:t>
            </a:r>
            <a:endParaRPr/>
          </a:p>
        </p:txBody>
      </p:sp>
      <p:sp>
        <p:nvSpPr>
          <p:cNvPr id="475" name="Google Shape;475;p35"/>
          <p:cNvSpPr/>
          <p:nvPr/>
        </p:nvSpPr>
        <p:spPr>
          <a:xfrm>
            <a:off x="7134000" y="2574375"/>
            <a:ext cx="1836300" cy="572700"/>
          </a:xfrm>
          <a:prstGeom prst="wedgeRectCallout">
            <a:avLst>
              <a:gd fmla="val -59452" name="adj1"/>
              <a:gd fmla="val 17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“C” comes after “B”,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update node B</a:t>
            </a:r>
            <a:endParaRPr/>
          </a:p>
        </p:txBody>
      </p:sp>
      <p:cxnSp>
        <p:nvCxnSpPr>
          <p:cNvPr id="476" name="Google Shape;476;p35"/>
          <p:cNvCxnSpPr>
            <a:stCxn id="435" idx="1"/>
            <a:endCxn id="444" idx="1"/>
          </p:cNvCxnSpPr>
          <p:nvPr/>
        </p:nvCxnSpPr>
        <p:spPr>
          <a:xfrm flipH="1" rot="10800000">
            <a:off x="2966122" y="2683423"/>
            <a:ext cx="2654400" cy="35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35"/>
          <p:cNvSpPr/>
          <p:nvPr/>
        </p:nvSpPr>
        <p:spPr>
          <a:xfrm>
            <a:off x="7134000" y="3341175"/>
            <a:ext cx="1836300" cy="572700"/>
          </a:xfrm>
          <a:prstGeom prst="wedgeRectCallout">
            <a:avLst>
              <a:gd fmla="val -60803" name="adj1"/>
              <a:gd fmla="val 17771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“D” comes after “C”,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update node C</a:t>
            </a:r>
            <a:endParaRPr/>
          </a:p>
        </p:txBody>
      </p:sp>
      <p:cxnSp>
        <p:nvCxnSpPr>
          <p:cNvPr id="478" name="Google Shape;478;p35"/>
          <p:cNvCxnSpPr/>
          <p:nvPr/>
        </p:nvCxnSpPr>
        <p:spPr>
          <a:xfrm rot="10800000">
            <a:off x="3408540" y="3447248"/>
            <a:ext cx="3096900" cy="35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35"/>
          <p:cNvSpPr/>
          <p:nvPr/>
        </p:nvSpPr>
        <p:spPr>
          <a:xfrm>
            <a:off x="311700" y="4101525"/>
            <a:ext cx="6635700" cy="659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the pointers!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be able to read “A B C D E”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Exercises</a:t>
            </a:r>
            <a:endParaRPr/>
          </a:p>
        </p:txBody>
      </p:sp>
      <p:pic>
        <p:nvPicPr>
          <p:cNvPr id="485" name="Google Shape;4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66" y="1297125"/>
            <a:ext cx="3560875" cy="34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